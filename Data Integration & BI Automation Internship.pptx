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67401" autoAdjust="0"/>
  </p:normalViewPr>
  <p:slideViewPr>
    <p:cSldViewPr snapToGrid="0">
      <p:cViewPr varScale="1">
        <p:scale>
          <a:sx n="107" d="100"/>
          <a:sy n="107" d="100"/>
        </p:scale>
        <p:origin x="126" y="29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E98BCB-A158-43D4-859E-1A538011772D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FD191-A0E8-4A3C-B4B4-CF8EFA2874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6939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smtClean="0"/>
              <a:t>Project Details</a:t>
            </a:r>
          </a:p>
          <a:p>
            <a:r>
              <a:rPr lang="en-GB" b="1" dirty="0" smtClean="0"/>
              <a:t>Project summary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Automating the reporting of a newly acquired business unit by designing a scalable data model and data flow.</a:t>
            </a:r>
          </a:p>
          <a:p>
            <a:r>
              <a:rPr lang="en-GB" b="1" dirty="0" smtClean="0"/>
              <a:t>Main business problem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Van </a:t>
            </a:r>
            <a:r>
              <a:rPr lang="en-GB" dirty="0" err="1" smtClean="0"/>
              <a:t>Dijk</a:t>
            </a:r>
            <a:r>
              <a:rPr lang="en-GB" dirty="0" smtClean="0"/>
              <a:t> Logistics, a newly acquired business unit within Move Intermodal, relied on manual reporting based on </a:t>
            </a:r>
            <a:r>
              <a:rPr lang="en-GB" dirty="0" err="1" smtClean="0"/>
              <a:t>Transpas</a:t>
            </a:r>
            <a:r>
              <a:rPr lang="en-GB" dirty="0" smtClean="0"/>
              <a:t> data exports, Excel calculations, and manually created reports. This process was time-consuming, error-prone, and difficult to scale.</a:t>
            </a:r>
          </a:p>
          <a:p>
            <a:r>
              <a:rPr lang="en-GB" b="1" dirty="0" smtClean="0"/>
              <a:t>Main goal of the project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To design and implement a structured data model that enables automated data flows and reporting for Van </a:t>
            </a:r>
            <a:r>
              <a:rPr lang="en-GB" dirty="0" err="1" smtClean="0"/>
              <a:t>Dijk</a:t>
            </a:r>
            <a:r>
              <a:rPr lang="en-GB" dirty="0" smtClean="0"/>
              <a:t>, replacing manual processes with a reliable and scalable solution.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2FD191-A0E8-4A3C-B4B4-CF8EFA2874B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8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smtClean="0"/>
              <a:t>Project Details</a:t>
            </a:r>
          </a:p>
          <a:p>
            <a:r>
              <a:rPr lang="en-GB" b="1" dirty="0" smtClean="0"/>
              <a:t>Project summary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Automating the reporting of a newly acquired business unit by designing a scalable data model and data flow.</a:t>
            </a:r>
          </a:p>
          <a:p>
            <a:r>
              <a:rPr lang="en-GB" b="1" dirty="0" smtClean="0"/>
              <a:t>Main business problem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Van </a:t>
            </a:r>
            <a:r>
              <a:rPr lang="en-GB" dirty="0" err="1" smtClean="0"/>
              <a:t>Dijk</a:t>
            </a:r>
            <a:r>
              <a:rPr lang="en-GB" dirty="0" smtClean="0"/>
              <a:t> Logistics, a newly acquired business unit within Move Intermodal, relied on manual reporting based on </a:t>
            </a:r>
            <a:r>
              <a:rPr lang="en-GB" dirty="0" err="1" smtClean="0"/>
              <a:t>Transpas</a:t>
            </a:r>
            <a:r>
              <a:rPr lang="en-GB" dirty="0" smtClean="0"/>
              <a:t> data exports, Excel calculations, and manually created reports. This process was time-consuming, error-prone, and difficult to scale.</a:t>
            </a:r>
          </a:p>
          <a:p>
            <a:r>
              <a:rPr lang="en-GB" b="1" dirty="0" smtClean="0"/>
              <a:t>Main goal of the project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To design and implement a structured data model that enables automated data flows and reporting for Van </a:t>
            </a:r>
            <a:r>
              <a:rPr lang="en-GB" dirty="0" err="1" smtClean="0"/>
              <a:t>Dijk</a:t>
            </a:r>
            <a:r>
              <a:rPr lang="en-GB" dirty="0" smtClean="0"/>
              <a:t>, replacing manual processes with a reliable and scalable solution.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2FD191-A0E8-4A3C-B4B4-CF8EFA2874B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340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“For this project, Snowflake was used as the central cloud data warehouse, where all integrated data is stored and queried.</a:t>
            </a:r>
          </a:p>
          <a:p>
            <a:endParaRPr lang="en-GB" dirty="0" smtClean="0"/>
          </a:p>
          <a:p>
            <a:r>
              <a:rPr lang="en-GB" dirty="0" err="1" smtClean="0"/>
              <a:t>Matillion</a:t>
            </a:r>
            <a:r>
              <a:rPr lang="en-GB" dirty="0" smtClean="0"/>
              <a:t> was the main tool for data integration and data modelling. I used different </a:t>
            </a:r>
            <a:r>
              <a:rPr lang="en-GB" dirty="0" err="1" smtClean="0"/>
              <a:t>Matillion</a:t>
            </a:r>
            <a:r>
              <a:rPr lang="en-GB" dirty="0" smtClean="0"/>
              <a:t> components such as </a:t>
            </a:r>
            <a:r>
              <a:rPr lang="en-GB" b="1" dirty="0" smtClean="0"/>
              <a:t>Table Inputs, Joins, Rename, Filters, and SQL components</a:t>
            </a:r>
            <a:r>
              <a:rPr lang="en-GB" dirty="0" smtClean="0"/>
              <a:t> to build the data model and implement the data transformations.</a:t>
            </a:r>
          </a:p>
          <a:p>
            <a:endParaRPr lang="en-GB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/>
              <a:t>SQL was used both within </a:t>
            </a:r>
            <a:r>
              <a:rPr lang="en-GB" dirty="0" err="1" smtClean="0"/>
              <a:t>Matillion</a:t>
            </a:r>
            <a:r>
              <a:rPr lang="en-GB" dirty="0" smtClean="0"/>
              <a:t> and directly in Snowflake for querying and validating the data.</a:t>
            </a:r>
          </a:p>
          <a:p>
            <a:endParaRPr lang="en-GB" dirty="0" smtClean="0"/>
          </a:p>
          <a:p>
            <a:r>
              <a:rPr lang="en-GB" dirty="0" smtClean="0"/>
              <a:t>The data model itself follows the </a:t>
            </a:r>
            <a:r>
              <a:rPr lang="en-GB" b="1" dirty="0" smtClean="0"/>
              <a:t>Data Vault 2.0 methodology</a:t>
            </a:r>
            <a:r>
              <a:rPr lang="en-GB" dirty="0" smtClean="0"/>
              <a:t>, which separates business keys, relationships, and descriptive attributes. This approach makes the model scalable, auditable, and suitable for handling historical changes in the data.</a:t>
            </a:r>
          </a:p>
          <a:p>
            <a:endParaRPr lang="en-GB" dirty="0" smtClean="0"/>
          </a:p>
          <a:p>
            <a:r>
              <a:rPr lang="en-GB" dirty="0" smtClean="0"/>
              <a:t>Finally, </a:t>
            </a:r>
            <a:r>
              <a:rPr lang="en-GB" b="1" dirty="0" smtClean="0"/>
              <a:t>Bold BI</a:t>
            </a:r>
            <a:r>
              <a:rPr lang="en-GB" dirty="0" smtClean="0"/>
              <a:t> was connected to Snowflake to build the final analytical views and dashboards used for reporting.”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2FD191-A0E8-4A3C-B4B4-CF8EFA2874B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2685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“My contribution started with a detailed analysis of the staging data and raw tables available in the database. I explored the source system structures and evaluated which tables and fields were relevant for reporting purposes, and which could be excluded.</a:t>
            </a:r>
          </a:p>
          <a:p>
            <a:endParaRPr lang="en-GB" dirty="0" smtClean="0"/>
          </a:p>
          <a:p>
            <a:r>
              <a:rPr lang="en-GB" dirty="0" smtClean="0"/>
              <a:t>Based on this analysis, I selected and modelled the relevant entities and, following </a:t>
            </a:r>
            <a:r>
              <a:rPr lang="en-GB" b="1" dirty="0" smtClean="0"/>
              <a:t>Data Vault 2.0 concepts</a:t>
            </a:r>
            <a:r>
              <a:rPr lang="en-GB" dirty="0" smtClean="0"/>
              <a:t>, created links between them </a:t>
            </a:r>
            <a:r>
              <a:rPr lang="en-GB" b="1" dirty="0" smtClean="0"/>
              <a:t>based on the business keys of the tables</a:t>
            </a:r>
            <a:r>
              <a:rPr lang="en-GB" dirty="0" smtClean="0"/>
              <a:t>. This ensures that relationships are stable over time and that historical changes in the data can be stored correctly.</a:t>
            </a:r>
          </a:p>
          <a:p>
            <a:endParaRPr lang="en-GB" dirty="0" smtClean="0"/>
          </a:p>
          <a:p>
            <a:r>
              <a:rPr lang="en-GB" dirty="0" smtClean="0"/>
              <a:t>When linking the data, I created </a:t>
            </a:r>
            <a:r>
              <a:rPr lang="en-GB" b="1" dirty="0" smtClean="0"/>
              <a:t>multiple intermediate views</a:t>
            </a:r>
            <a:r>
              <a:rPr lang="en-GB" dirty="0" smtClean="0"/>
              <a:t> using </a:t>
            </a:r>
            <a:r>
              <a:rPr lang="en-GB" dirty="0" err="1" smtClean="0"/>
              <a:t>Matillion</a:t>
            </a:r>
            <a:r>
              <a:rPr lang="en-GB" dirty="0" smtClean="0"/>
              <a:t> components such as joins, filters, renames, and SQL components. These views were used to progressively connect and prepare the data before loading it into the final model. I will show screenshots of some of these views to illustrate how the data was connected and transformed.</a:t>
            </a:r>
          </a:p>
          <a:p>
            <a:endParaRPr lang="en-GB" dirty="0" smtClean="0"/>
          </a:p>
          <a:p>
            <a:r>
              <a:rPr lang="en-GB" dirty="0" smtClean="0"/>
              <a:t>I then focused on building </a:t>
            </a:r>
            <a:r>
              <a:rPr lang="en-GB" b="1" dirty="0" smtClean="0"/>
              <a:t>incremental pipelines</a:t>
            </a:r>
            <a:r>
              <a:rPr lang="en-GB" dirty="0" smtClean="0"/>
              <a:t> for the data flow, ensuring that only new or changed records are processed during each load. This approach improves performance and makes the solution scalable as data volumes grow.</a:t>
            </a:r>
          </a:p>
          <a:p>
            <a:endParaRPr lang="en-GB" dirty="0" smtClean="0"/>
          </a:p>
          <a:p>
            <a:r>
              <a:rPr lang="en-GB" dirty="0" smtClean="0"/>
              <a:t>A significant part of the work involved </a:t>
            </a:r>
            <a:r>
              <a:rPr lang="en-GB" b="1" dirty="0" smtClean="0"/>
              <a:t>data mapping</a:t>
            </a:r>
            <a:r>
              <a:rPr lang="en-GB" dirty="0" smtClean="0"/>
              <a:t> to Move Intermodal’s existing data model. This included column-level and value-level mapping, implementing business calculations, and standardising data formats to ensure consistency with existing reporting definitions.</a:t>
            </a:r>
          </a:p>
          <a:p>
            <a:endParaRPr lang="en-GB" dirty="0" smtClean="0"/>
          </a:p>
          <a:p>
            <a:r>
              <a:rPr lang="en-GB" dirty="0" smtClean="0"/>
              <a:t>Finally, I translated the logic of the manual reports into automated analytical views and connected them to </a:t>
            </a:r>
            <a:r>
              <a:rPr lang="en-GB" b="1" dirty="0" smtClean="0"/>
              <a:t>Bold BI</a:t>
            </a:r>
            <a:r>
              <a:rPr lang="en-GB" dirty="0" smtClean="0"/>
              <a:t>. As a result, the reports are automatically updated whenever new records enter the TMS system, removing the need for manual exports and calculations.”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2FD191-A0E8-4A3C-B4B4-CF8EFA2874B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8551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2FD191-A0E8-4A3C-B4B4-CF8EFA2874B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3274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Data Integration &amp; BI Automation Internship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Presenter: </a:t>
            </a:r>
            <a:r>
              <a:rPr lang="en-GB" dirty="0" err="1" smtClean="0"/>
              <a:t>Vladislav</a:t>
            </a:r>
            <a:r>
              <a:rPr lang="en-GB" dirty="0" smtClean="0"/>
              <a:t> Stoimenov, 235030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60" y="5791113"/>
            <a:ext cx="2571750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833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Company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 smtClean="0"/>
              <a:t>Company name: </a:t>
            </a:r>
            <a:r>
              <a:rPr lang="en-GB" dirty="0" smtClean="0"/>
              <a:t>Move Intermodal (Van </a:t>
            </a:r>
            <a:r>
              <a:rPr lang="en-GB" dirty="0" err="1" smtClean="0"/>
              <a:t>Dijk</a:t>
            </a:r>
            <a:r>
              <a:rPr lang="en-GB" dirty="0" smtClean="0"/>
              <a:t> Logistics)</a:t>
            </a:r>
          </a:p>
          <a:p>
            <a:r>
              <a:rPr lang="en-GB" b="1" dirty="0" smtClean="0"/>
              <a:t>Industry: </a:t>
            </a:r>
            <a:r>
              <a:rPr lang="en-GB" dirty="0" smtClean="0"/>
              <a:t>Logistics – FTL Intermodal Transport</a:t>
            </a:r>
          </a:p>
          <a:p>
            <a:r>
              <a:rPr lang="en-GB" b="1" dirty="0" smtClean="0"/>
              <a:t>Core activity:</a:t>
            </a:r>
          </a:p>
          <a:p>
            <a:pPr lvl="1"/>
            <a:r>
              <a:rPr lang="en-GB" dirty="0" smtClean="0"/>
              <a:t>Full-container intermodal transportation</a:t>
            </a:r>
          </a:p>
          <a:p>
            <a:pPr lvl="1"/>
            <a:r>
              <a:rPr lang="en-GB" dirty="0"/>
              <a:t>Clients book one complete container, fill it with their own goods, and pay per </a:t>
            </a:r>
            <a:r>
              <a:rPr lang="en-GB" dirty="0" smtClean="0"/>
              <a:t>container</a:t>
            </a:r>
          </a:p>
          <a:p>
            <a:pPr lvl="1"/>
            <a:r>
              <a:rPr lang="en-GB" dirty="0"/>
              <a:t>Transport uses multiple modes (road, rail, and water) within one end-to-end </a:t>
            </a:r>
            <a:r>
              <a:rPr lang="en-GB" dirty="0" smtClean="0"/>
              <a:t>solution</a:t>
            </a:r>
          </a:p>
          <a:p>
            <a:r>
              <a:rPr lang="en-GB" b="1" dirty="0" smtClean="0"/>
              <a:t>Main corridor: </a:t>
            </a:r>
            <a:r>
              <a:rPr lang="en-GB" dirty="0" smtClean="0"/>
              <a:t>BENELUX &lt;-&gt; Italy</a:t>
            </a:r>
          </a:p>
          <a:p>
            <a:r>
              <a:rPr lang="en-GB" b="1" dirty="0" smtClean="0"/>
              <a:t>Department: </a:t>
            </a:r>
            <a:r>
              <a:rPr lang="en-GB" dirty="0" smtClean="0"/>
              <a:t>IT Department / Business Intelligence Team</a:t>
            </a:r>
          </a:p>
          <a:p>
            <a:r>
              <a:rPr lang="en-GB" b="1" dirty="0" smtClean="0"/>
              <a:t>Role: </a:t>
            </a:r>
            <a:r>
              <a:rPr lang="en-GB" dirty="0" smtClean="0"/>
              <a:t>Data Integration &amp; BI Automation Intern</a:t>
            </a:r>
            <a:endParaRPr lang="en-GB" dirty="0"/>
          </a:p>
        </p:txBody>
      </p:sp>
      <p:pic>
        <p:nvPicPr>
          <p:cNvPr id="2056" name="Picture 8" descr="Select Customers List | Bold B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9069" y="273049"/>
            <a:ext cx="2505075" cy="1657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Move Intermodal Strengthens Sustainable Transport with Strategic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9069" y="1709900"/>
            <a:ext cx="2599464" cy="671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0800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Project details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6488397" cy="3880773"/>
          </a:xfrm>
        </p:spPr>
        <p:txBody>
          <a:bodyPr>
            <a:normAutofit/>
          </a:bodyPr>
          <a:lstStyle/>
          <a:p>
            <a:r>
              <a:rPr lang="en-GB" b="1" dirty="0" smtClean="0"/>
              <a:t>Project summary</a:t>
            </a:r>
            <a:r>
              <a:rPr lang="en-GB" b="1" dirty="0"/>
              <a:t>: </a:t>
            </a:r>
          </a:p>
          <a:p>
            <a:pPr marL="0" indent="0">
              <a:buNone/>
            </a:pPr>
            <a:r>
              <a:rPr lang="en-GB" dirty="0" smtClean="0"/>
              <a:t>Automating </a:t>
            </a:r>
            <a:r>
              <a:rPr lang="en-GB" dirty="0"/>
              <a:t>reporting for a newly acquired business unit using a scalable data model</a:t>
            </a:r>
            <a:r>
              <a:rPr lang="en-GB" dirty="0" smtClean="0"/>
              <a:t>.</a:t>
            </a:r>
          </a:p>
          <a:p>
            <a:r>
              <a:rPr lang="en-GB" b="1" dirty="0" smtClean="0"/>
              <a:t>Main </a:t>
            </a:r>
            <a:r>
              <a:rPr lang="en-GB" b="1" dirty="0"/>
              <a:t>business problem: </a:t>
            </a:r>
            <a:endParaRPr lang="en-GB" b="1" dirty="0" smtClean="0"/>
          </a:p>
          <a:p>
            <a:pPr marL="0" indent="0">
              <a:buNone/>
            </a:pPr>
            <a:r>
              <a:rPr lang="en-GB" dirty="0" smtClean="0"/>
              <a:t>Reporting </a:t>
            </a:r>
            <a:r>
              <a:rPr lang="en-GB" dirty="0"/>
              <a:t>was fully manual, based on </a:t>
            </a:r>
            <a:r>
              <a:rPr lang="en-GB" dirty="0" err="1" smtClean="0"/>
              <a:t>Transpas</a:t>
            </a:r>
            <a:r>
              <a:rPr lang="en-GB" dirty="0" smtClean="0"/>
              <a:t> (TMS) </a:t>
            </a:r>
            <a:r>
              <a:rPr lang="en-GB" dirty="0"/>
              <a:t>exports and Excel calculations, making it inefficient and error-prone.</a:t>
            </a:r>
          </a:p>
          <a:p>
            <a:r>
              <a:rPr lang="en-GB" b="1" dirty="0" smtClean="0"/>
              <a:t>Main goal of the </a:t>
            </a:r>
            <a:r>
              <a:rPr lang="en-GB" b="1" dirty="0"/>
              <a:t>project: </a:t>
            </a:r>
            <a:endParaRPr lang="en-GB" b="1" dirty="0" smtClean="0"/>
          </a:p>
          <a:p>
            <a:pPr marL="0" indent="0">
              <a:buNone/>
            </a:pPr>
            <a:r>
              <a:rPr lang="en-GB" dirty="0" smtClean="0"/>
              <a:t>To </a:t>
            </a:r>
            <a:r>
              <a:rPr lang="en-GB" dirty="0"/>
              <a:t>build a structured data model that automates data flows and reporting for Van </a:t>
            </a:r>
            <a:r>
              <a:rPr lang="en-GB" dirty="0" err="1"/>
              <a:t>Dijk</a:t>
            </a:r>
            <a:r>
              <a:rPr lang="en-GB" dirty="0"/>
              <a:t>.</a:t>
            </a:r>
            <a:endParaRPr lang="en-GB" dirty="0" smtClean="0"/>
          </a:p>
          <a:p>
            <a:endParaRPr lang="en-GB" dirty="0" smtClean="0"/>
          </a:p>
        </p:txBody>
      </p:sp>
      <p:pic>
        <p:nvPicPr>
          <p:cNvPr id="5" name="Picture 2" descr="Home - Move Intermod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025" y="2160589"/>
            <a:ext cx="4098304" cy="2614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0253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Tools and Technologies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6488397" cy="3880773"/>
          </a:xfrm>
        </p:spPr>
        <p:txBody>
          <a:bodyPr>
            <a:normAutofit/>
          </a:bodyPr>
          <a:lstStyle/>
          <a:p>
            <a:r>
              <a:rPr lang="en-GB" b="1" dirty="0" smtClean="0"/>
              <a:t>Snowflake: </a:t>
            </a:r>
            <a:r>
              <a:rPr lang="en-GB" dirty="0" smtClean="0"/>
              <a:t>Cloud </a:t>
            </a:r>
            <a:r>
              <a:rPr lang="en-GB" dirty="0"/>
              <a:t>data warehouse and </a:t>
            </a:r>
            <a:r>
              <a:rPr lang="en-GB" dirty="0" smtClean="0"/>
              <a:t>querying</a:t>
            </a:r>
          </a:p>
          <a:p>
            <a:r>
              <a:rPr lang="en-GB" b="1" dirty="0" err="1" smtClean="0"/>
              <a:t>Matillion</a:t>
            </a:r>
            <a:r>
              <a:rPr lang="en-GB" b="1" dirty="0" smtClean="0"/>
              <a:t>: </a:t>
            </a:r>
            <a:r>
              <a:rPr lang="en-GB" dirty="0" smtClean="0"/>
              <a:t>Data </a:t>
            </a:r>
            <a:r>
              <a:rPr lang="en-GB" dirty="0"/>
              <a:t>integration and data </a:t>
            </a:r>
            <a:r>
              <a:rPr lang="en-GB" dirty="0" smtClean="0"/>
              <a:t>modelling</a:t>
            </a:r>
          </a:p>
          <a:p>
            <a:r>
              <a:rPr lang="en-GB" b="1" dirty="0" smtClean="0"/>
              <a:t>SQL</a:t>
            </a:r>
            <a:r>
              <a:rPr lang="en-GB" b="1" dirty="0"/>
              <a:t>: </a:t>
            </a:r>
            <a:r>
              <a:rPr lang="en-GB" dirty="0"/>
              <a:t>Data transformation and </a:t>
            </a:r>
            <a:r>
              <a:rPr lang="en-GB" dirty="0" smtClean="0"/>
              <a:t>querying</a:t>
            </a:r>
          </a:p>
          <a:p>
            <a:r>
              <a:rPr lang="en-GB" b="1" dirty="0" smtClean="0"/>
              <a:t>Bold BI: </a:t>
            </a:r>
            <a:r>
              <a:rPr lang="en-GB" dirty="0"/>
              <a:t>Reporting and dashboards (connected to </a:t>
            </a:r>
            <a:r>
              <a:rPr lang="en-GB" dirty="0" smtClean="0"/>
              <a:t>Snowflake)</a:t>
            </a:r>
            <a:endParaRPr lang="en-GB" dirty="0"/>
          </a:p>
          <a:p>
            <a:r>
              <a:rPr lang="en-GB" b="1" dirty="0" smtClean="0"/>
              <a:t>Data </a:t>
            </a:r>
            <a:r>
              <a:rPr lang="en-GB" b="1" dirty="0"/>
              <a:t>Vault </a:t>
            </a:r>
            <a:r>
              <a:rPr lang="en-GB" b="1" dirty="0" smtClean="0"/>
              <a:t>2.0: </a:t>
            </a:r>
            <a:r>
              <a:rPr lang="en-GB" dirty="0" smtClean="0"/>
              <a:t>Data </a:t>
            </a:r>
            <a:r>
              <a:rPr lang="en-GB" dirty="0"/>
              <a:t>modelling methodology for scalable and historical data integration</a:t>
            </a:r>
            <a:endParaRPr lang="en-GB" dirty="0" smtClean="0"/>
          </a:p>
          <a:p>
            <a:r>
              <a:rPr lang="en-GB" b="1" dirty="0" err="1" smtClean="0"/>
              <a:t>Ixolution</a:t>
            </a:r>
            <a:r>
              <a:rPr lang="en-GB" b="1" dirty="0" smtClean="0"/>
              <a:t>: </a:t>
            </a:r>
            <a:r>
              <a:rPr lang="en-GB" dirty="0" smtClean="0"/>
              <a:t>TMS system of Move Intermodal</a:t>
            </a:r>
          </a:p>
          <a:p>
            <a:r>
              <a:rPr lang="en-GB" b="1" dirty="0" err="1" smtClean="0"/>
              <a:t>Transpas</a:t>
            </a:r>
            <a:r>
              <a:rPr lang="en-GB" b="1" dirty="0" smtClean="0"/>
              <a:t>: </a:t>
            </a:r>
            <a:r>
              <a:rPr lang="en-GB" dirty="0" smtClean="0"/>
              <a:t>TMS system of Van </a:t>
            </a:r>
            <a:r>
              <a:rPr lang="en-GB" dirty="0" err="1" smtClean="0"/>
              <a:t>Dijk</a:t>
            </a:r>
            <a:r>
              <a:rPr lang="en-GB" dirty="0" smtClean="0"/>
              <a:t> Logistics</a:t>
            </a:r>
          </a:p>
          <a:p>
            <a:endParaRPr lang="en-GB" dirty="0" smtClean="0"/>
          </a:p>
        </p:txBody>
      </p:sp>
      <p:pic>
        <p:nvPicPr>
          <p:cNvPr id="4098" name="Picture 2" descr="Snowflake Logo, symbol, meaning, history, PNG, bra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6150" y="1105530"/>
            <a:ext cx="1914043" cy="107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Matillion Raises $150M Series E Funding at $1.5B Valuation | General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889" y="2572579"/>
            <a:ext cx="2736723" cy="251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Sql Logo PNGs for Free Downloa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0144" y="2824358"/>
            <a:ext cx="2224215" cy="148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Bold BI Reviews 2024: Details, Pricing, &amp; Features | G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0975" y="4066348"/>
            <a:ext cx="2542549" cy="1334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68" y="5781764"/>
            <a:ext cx="2730367" cy="85017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2686" y="5738948"/>
            <a:ext cx="935806" cy="93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783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88" y="480290"/>
            <a:ext cx="11552854" cy="559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79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Contribution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2160589"/>
            <a:ext cx="7291009" cy="3880773"/>
          </a:xfrm>
        </p:spPr>
        <p:txBody>
          <a:bodyPr>
            <a:normAutofit/>
          </a:bodyPr>
          <a:lstStyle/>
          <a:p>
            <a:r>
              <a:rPr lang="en-GB" dirty="0" smtClean="0"/>
              <a:t>Analysed staging and raw database tables</a:t>
            </a:r>
            <a:endParaRPr lang="en-GB" dirty="0"/>
          </a:p>
          <a:p>
            <a:r>
              <a:rPr lang="en-GB" dirty="0" smtClean="0"/>
              <a:t>Selected relevant data for reporting use cases</a:t>
            </a:r>
          </a:p>
          <a:p>
            <a:r>
              <a:rPr lang="en-GB" dirty="0" smtClean="0"/>
              <a:t>Designed Data Vault 2.0 links to store historical data</a:t>
            </a:r>
          </a:p>
          <a:p>
            <a:r>
              <a:rPr lang="en-GB" dirty="0" smtClean="0"/>
              <a:t>Built incremental pipelines for automated data flow</a:t>
            </a:r>
          </a:p>
          <a:p>
            <a:r>
              <a:rPr lang="en-GB" dirty="0" smtClean="0"/>
              <a:t>Performed detailed data mapping to Move’s existing data model</a:t>
            </a:r>
          </a:p>
          <a:p>
            <a:r>
              <a:rPr lang="en-GB" dirty="0" smtClean="0"/>
              <a:t>Created automated reporting views connected to Bold BI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3172" y="1743892"/>
            <a:ext cx="2419350" cy="3352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96" y="5096692"/>
            <a:ext cx="8547929" cy="122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770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323" y="157007"/>
            <a:ext cx="7420496" cy="619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841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36" y="890519"/>
            <a:ext cx="9060151" cy="478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910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Results</a:t>
            </a: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77334" y="1930400"/>
            <a:ext cx="7291009" cy="2532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Report views are built and automated in Bold BI</a:t>
            </a:r>
          </a:p>
          <a:p>
            <a:r>
              <a:rPr lang="en-GB" dirty="0" smtClean="0"/>
              <a:t>Data mapping to Move’s existing data model is complete</a:t>
            </a:r>
          </a:p>
          <a:p>
            <a:r>
              <a:rPr lang="en-GB" dirty="0" smtClean="0"/>
              <a:t>Data flow from </a:t>
            </a:r>
            <a:r>
              <a:rPr lang="en-GB" dirty="0" err="1" smtClean="0"/>
              <a:t>Transpas</a:t>
            </a:r>
            <a:r>
              <a:rPr lang="en-GB" dirty="0" smtClean="0"/>
              <a:t> (TMS) to Bold BI is implemented</a:t>
            </a:r>
          </a:p>
          <a:p>
            <a:r>
              <a:rPr lang="en-GB" dirty="0" smtClean="0"/>
              <a:t>Any remaining views are in final stage and will be completed soon</a:t>
            </a:r>
          </a:p>
          <a:p>
            <a:r>
              <a:rPr lang="en-GB" dirty="0" smtClean="0"/>
              <a:t>Data update schedulers configuration and stakeholder validation are planned for the next week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16" y="4722570"/>
            <a:ext cx="8804686" cy="112567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8478" y="888893"/>
            <a:ext cx="2790825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100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Challenges &amp; </a:t>
            </a:r>
            <a:r>
              <a:rPr lang="en-GB" dirty="0" smtClean="0"/>
              <a:t>limitations</a:t>
            </a:r>
            <a:endParaRPr lang="en-GB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77334" y="2121369"/>
            <a:ext cx="7291009" cy="3826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Limited domain knowledge of Van </a:t>
            </a:r>
            <a:r>
              <a:rPr lang="en-GB" dirty="0" err="1"/>
              <a:t>Dijk</a:t>
            </a:r>
            <a:r>
              <a:rPr lang="en-GB" dirty="0"/>
              <a:t> operations within the Move </a:t>
            </a:r>
            <a:r>
              <a:rPr lang="en-GB" dirty="0" smtClean="0"/>
              <a:t>team</a:t>
            </a:r>
          </a:p>
          <a:p>
            <a:r>
              <a:rPr lang="en-GB" dirty="0"/>
              <a:t>Dependency on stakeholder availability for data </a:t>
            </a:r>
            <a:r>
              <a:rPr lang="en-GB" dirty="0" smtClean="0"/>
              <a:t>validation</a:t>
            </a:r>
          </a:p>
          <a:p>
            <a:r>
              <a:rPr lang="en-GB" dirty="0"/>
              <a:t>Delays in aligning reporting requirements across </a:t>
            </a:r>
            <a:r>
              <a:rPr lang="en-GB" dirty="0" smtClean="0"/>
              <a:t>teams</a:t>
            </a:r>
          </a:p>
          <a:p>
            <a:r>
              <a:rPr lang="en-GB" dirty="0"/>
              <a:t>Limited transparency on existing TMS extract </a:t>
            </a:r>
            <a:r>
              <a:rPr lang="en-GB" dirty="0" smtClean="0"/>
              <a:t>logic</a:t>
            </a:r>
          </a:p>
        </p:txBody>
      </p:sp>
    </p:spTree>
    <p:extLst>
      <p:ext uri="{BB962C8B-B14F-4D97-AF65-F5344CB8AC3E}">
        <p14:creationId xmlns:p14="http://schemas.microsoft.com/office/powerpoint/2010/main" val="3174194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Thank you for your attention!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Presenter: </a:t>
            </a:r>
            <a:r>
              <a:rPr lang="en-GB" dirty="0" err="1" smtClean="0"/>
              <a:t>Vladislav</a:t>
            </a:r>
            <a:r>
              <a:rPr lang="en-GB" dirty="0" smtClean="0"/>
              <a:t> Stoimenov, 235030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92" y="5791111"/>
            <a:ext cx="2571750" cy="828675"/>
          </a:xfrm>
          <a:prstGeom prst="rect">
            <a:avLst/>
          </a:prstGeom>
        </p:spPr>
      </p:pic>
      <p:pic>
        <p:nvPicPr>
          <p:cNvPr id="5" name="Picture 8" descr="Select Customers List | Bold B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936" y="5310734"/>
            <a:ext cx="2505075" cy="1657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Move Intermodal Strengthens Sustainable Transport with Strategic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707" y="5803815"/>
            <a:ext cx="2599464" cy="671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564828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6855</TotalTime>
  <Words>812</Words>
  <Application>Microsoft Office PowerPoint</Application>
  <PresentationFormat>Widescreen</PresentationFormat>
  <Paragraphs>80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Trebuchet MS</vt:lpstr>
      <vt:lpstr>Wingdings 3</vt:lpstr>
      <vt:lpstr>Facet</vt:lpstr>
      <vt:lpstr>Data Integration &amp; BI Automation Internship</vt:lpstr>
      <vt:lpstr>Company</vt:lpstr>
      <vt:lpstr>Project details</vt:lpstr>
      <vt:lpstr>Tools and Technologies</vt:lpstr>
      <vt:lpstr>PowerPoint Presentation</vt:lpstr>
      <vt:lpstr>Contribution</vt:lpstr>
      <vt:lpstr>PowerPoint Presentation</vt:lpstr>
      <vt:lpstr>PowerPoint Presentation</vt:lpstr>
      <vt:lpstr>Results</vt:lpstr>
      <vt:lpstr>Challenges &amp; limitations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Integration &amp; BI Automation Internship</dc:title>
  <dc:creator>Vladi</dc:creator>
  <cp:lastModifiedBy>Vladi</cp:lastModifiedBy>
  <cp:revision>24</cp:revision>
  <dcterms:created xsi:type="dcterms:W3CDTF">2026-01-08T01:28:55Z</dcterms:created>
  <dcterms:modified xsi:type="dcterms:W3CDTF">2026-01-12T20:45:57Z</dcterms:modified>
</cp:coreProperties>
</file>